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73" r:id="rId4"/>
    <p:sldId id="272" r:id="rId5"/>
    <p:sldId id="271" r:id="rId6"/>
    <p:sldId id="270" r:id="rId7"/>
    <p:sldId id="278" r:id="rId8"/>
    <p:sldId id="277" r:id="rId9"/>
    <p:sldId id="276" r:id="rId10"/>
    <p:sldId id="275" r:id="rId11"/>
    <p:sldId id="280" r:id="rId12"/>
    <p:sldId id="281" r:id="rId13"/>
    <p:sldId id="282" r:id="rId14"/>
    <p:sldId id="274" r:id="rId15"/>
    <p:sldId id="279" r:id="rId16"/>
    <p:sldId id="269"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Inter" panose="020B0604020202020204" charset="0"/>
      <p:regular r:id="rId22"/>
    </p:embeddedFont>
    <p:embeddedFont>
      <p:font typeface="Inter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01-Oct-26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01-Oct-26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01-Oct-26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01-Oct-26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12" name="TextBox 12"/>
          <p:cNvSpPr txBox="1"/>
          <p:nvPr/>
        </p:nvSpPr>
        <p:spPr>
          <a:xfrm>
            <a:off x="447675" y="1638300"/>
            <a:ext cx="17830800" cy="2001895"/>
          </a:xfrm>
          <a:prstGeom prst="rect">
            <a:avLst/>
          </a:prstGeom>
        </p:spPr>
        <p:txBody>
          <a:bodyPr wrap="square" lIns="0" tIns="0" rIns="0" bIns="0" rtlCol="0" anchor="t">
            <a:spAutoFit/>
          </a:bodyPr>
          <a:lstStyle/>
          <a:p>
            <a:pPr algn="l">
              <a:lnSpc>
                <a:spcPts val="18932"/>
              </a:lnSpc>
            </a:pPr>
            <a:r>
              <a:rPr lang="en-US" sz="6000" dirty="0">
                <a:solidFill>
                  <a:srgbClr val="000000"/>
                </a:solidFill>
                <a:latin typeface="Inter"/>
                <a:ea typeface="Inter"/>
                <a:cs typeface="Inter"/>
                <a:sym typeface="Inter"/>
              </a:rPr>
              <a:t>EVENT MANAGEMENT AND ANALYTICS PORTAL</a:t>
            </a:r>
          </a:p>
        </p:txBody>
      </p:sp>
      <p:sp>
        <p:nvSpPr>
          <p:cNvPr id="16" name="AutoShape 16"/>
          <p:cNvSpPr/>
          <p:nvPr/>
        </p:nvSpPr>
        <p:spPr>
          <a:xfrm>
            <a:off x="645959" y="5176669"/>
            <a:ext cx="16305734" cy="0"/>
          </a:xfrm>
          <a:prstGeom prst="line">
            <a:avLst/>
          </a:prstGeom>
          <a:ln w="19050" cap="flat">
            <a:solidFill>
              <a:srgbClr val="000000"/>
            </a:solidFill>
            <a:prstDash val="solid"/>
            <a:headEnd type="none" w="sm" len="sm"/>
            <a:tailEnd type="none" w="sm" len="sm"/>
          </a:ln>
        </p:spPr>
      </p:sp>
      <p:sp>
        <p:nvSpPr>
          <p:cNvPr id="17" name="TextBox 17"/>
          <p:cNvSpPr txBox="1"/>
          <p:nvPr/>
        </p:nvSpPr>
        <p:spPr>
          <a:xfrm>
            <a:off x="12344400" y="7040043"/>
            <a:ext cx="5715000" cy="2930995"/>
          </a:xfrm>
          <a:prstGeom prst="rect">
            <a:avLst/>
          </a:prstGeom>
        </p:spPr>
        <p:txBody>
          <a:bodyPr wrap="square" lIns="0" tIns="0" rIns="0" bIns="0" rtlCol="0" anchor="t">
            <a:spAutoFit/>
          </a:bodyPr>
          <a:lstStyle/>
          <a:p>
            <a:pPr algn="l">
              <a:lnSpc>
                <a:spcPts val="2268"/>
              </a:lnSpc>
            </a:pPr>
            <a:r>
              <a:rPr lang="en-US" sz="2400" b="1" spc="-100" dirty="0">
                <a:solidFill>
                  <a:srgbClr val="101010"/>
                </a:solidFill>
                <a:latin typeface="Arial" panose="020B0604020202020204" pitchFamily="34" charset="0"/>
                <a:ea typeface="Inter Bold"/>
                <a:cs typeface="Arial" panose="020B0604020202020204" pitchFamily="34" charset="0"/>
                <a:sym typeface="Inter Bold"/>
              </a:rPr>
              <a:t>SECTION- 3</a:t>
            </a:r>
            <a:br>
              <a:rPr lang="en-US" sz="2400" b="1" spc="-100" dirty="0">
                <a:solidFill>
                  <a:srgbClr val="101010"/>
                </a:solidFill>
                <a:latin typeface="Arial" panose="020B0604020202020204" pitchFamily="34" charset="0"/>
                <a:ea typeface="Inter Bold"/>
                <a:cs typeface="Arial" panose="020B0604020202020204" pitchFamily="34" charset="0"/>
                <a:sym typeface="Inter Bold"/>
              </a:rPr>
            </a:br>
            <a:br>
              <a:rPr lang="en-US" sz="2400" b="1" spc="-100" dirty="0">
                <a:solidFill>
                  <a:srgbClr val="101010"/>
                </a:solidFill>
                <a:latin typeface="Arial" panose="020B0604020202020204" pitchFamily="34" charset="0"/>
                <a:ea typeface="Inter Bold"/>
                <a:cs typeface="Arial" panose="020B0604020202020204" pitchFamily="34" charset="0"/>
                <a:sym typeface="Inter Bold"/>
              </a:rPr>
            </a:br>
            <a:r>
              <a:rPr lang="en-US" sz="2400" b="1" spc="-100" dirty="0">
                <a:solidFill>
                  <a:srgbClr val="101010"/>
                </a:solidFill>
                <a:latin typeface="Arial" panose="020B0604020202020204" pitchFamily="34" charset="0"/>
                <a:ea typeface="Inter Bold"/>
                <a:cs typeface="Arial" panose="020B0604020202020204" pitchFamily="34" charset="0"/>
                <a:sym typeface="Inter Bold"/>
              </a:rPr>
              <a:t>TEAM – 6</a:t>
            </a:r>
            <a:br>
              <a:rPr lang="en-US" sz="2400" b="1" spc="-100" dirty="0">
                <a:solidFill>
                  <a:srgbClr val="101010"/>
                </a:solidFill>
                <a:latin typeface="Arial" panose="020B0604020202020204" pitchFamily="34" charset="0"/>
                <a:ea typeface="Inter Bold"/>
                <a:cs typeface="Arial" panose="020B0604020202020204" pitchFamily="34" charset="0"/>
                <a:sym typeface="Inter Bold"/>
              </a:rPr>
            </a:br>
            <a:br>
              <a:rPr lang="en-US" sz="2400" b="1" spc="-100" dirty="0">
                <a:solidFill>
                  <a:srgbClr val="101010"/>
                </a:solidFill>
                <a:latin typeface="Arial" panose="020B0604020202020204" pitchFamily="34" charset="0"/>
                <a:ea typeface="Inter Bold"/>
                <a:cs typeface="Arial" panose="020B0604020202020204" pitchFamily="34" charset="0"/>
                <a:sym typeface="Inter Bold"/>
              </a:rPr>
            </a:br>
            <a:r>
              <a:rPr lang="en-US" sz="2400" spc="-100" dirty="0">
                <a:solidFill>
                  <a:srgbClr val="101010"/>
                </a:solidFill>
                <a:latin typeface="Arial" panose="020B0604020202020204" pitchFamily="34" charset="0"/>
                <a:ea typeface="Inter Bold"/>
                <a:cs typeface="Arial" panose="020B0604020202020204" pitchFamily="34" charset="0"/>
                <a:sym typeface="Inter Bold"/>
              </a:rPr>
              <a:t>2520030159 – B. HEMA SRI</a:t>
            </a:r>
          </a:p>
          <a:p>
            <a:pPr algn="l">
              <a:lnSpc>
                <a:spcPts val="2268"/>
              </a:lnSpc>
            </a:pPr>
            <a:r>
              <a:rPr lang="en-US" sz="2400" spc="-100" dirty="0">
                <a:solidFill>
                  <a:srgbClr val="101010"/>
                </a:solidFill>
                <a:latin typeface="Arial" panose="020B0604020202020204" pitchFamily="34" charset="0"/>
                <a:ea typeface="Inter Bold"/>
                <a:cs typeface="Arial" panose="020B0604020202020204" pitchFamily="34" charset="0"/>
                <a:sym typeface="Inter Bold"/>
              </a:rPr>
              <a:t>2520030371 – P. HAVISHAA REDDY</a:t>
            </a:r>
          </a:p>
          <a:p>
            <a:pPr algn="l">
              <a:lnSpc>
                <a:spcPts val="2268"/>
              </a:lnSpc>
            </a:pPr>
            <a:r>
              <a:rPr lang="en-US" sz="2400" spc="-100" dirty="0">
                <a:solidFill>
                  <a:srgbClr val="101010"/>
                </a:solidFill>
                <a:latin typeface="Arial" panose="020B0604020202020204" pitchFamily="34" charset="0"/>
                <a:ea typeface="Inter Bold"/>
                <a:cs typeface="Arial" panose="020B0604020202020204" pitchFamily="34" charset="0"/>
                <a:sym typeface="Inter Bold"/>
              </a:rPr>
              <a:t>2520030074 – K. BHARGAVI</a:t>
            </a:r>
          </a:p>
          <a:p>
            <a:pPr algn="l">
              <a:lnSpc>
                <a:spcPts val="2268"/>
              </a:lnSpc>
            </a:pPr>
            <a:endParaRPr lang="en-US" sz="1800" b="1" spc="-100" dirty="0">
              <a:solidFill>
                <a:srgbClr val="101010"/>
              </a:solidFill>
              <a:latin typeface="Inter Bold"/>
              <a:ea typeface="Inter Bold"/>
              <a:cs typeface="Inter Bold"/>
              <a:sym typeface="Inter Bold"/>
            </a:endParaRPr>
          </a:p>
          <a:p>
            <a:pPr algn="l">
              <a:lnSpc>
                <a:spcPts val="2268"/>
              </a:lnSpc>
            </a:pPr>
            <a:endParaRPr lang="en-US" b="1" spc="-100" dirty="0">
              <a:solidFill>
                <a:srgbClr val="101010"/>
              </a:solidFill>
              <a:latin typeface="Inter Bold"/>
              <a:ea typeface="Inter Bold"/>
              <a:cs typeface="Inter Bold"/>
              <a:sym typeface="Inter Bold"/>
            </a:endParaRPr>
          </a:p>
          <a:p>
            <a:pPr algn="l">
              <a:lnSpc>
                <a:spcPts val="2268"/>
              </a:lnSpc>
            </a:pPr>
            <a:endParaRPr lang="en-US" sz="1800" b="1" spc="-100" dirty="0">
              <a:solidFill>
                <a:srgbClr val="101010"/>
              </a:solidFill>
              <a:latin typeface="Inter Bold"/>
              <a:ea typeface="Inter Bold"/>
              <a:cs typeface="Inter Bold"/>
              <a:sym typeface="Inter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8548116" cy="1781450"/>
          </a:xfrm>
          <a:prstGeom prst="rect">
            <a:avLst/>
          </a:prstGeom>
        </p:spPr>
        <p:txBody>
          <a:bodyPr lIns="0" tIns="0" rIns="0" bIns="0" rtlCol="0" anchor="t">
            <a:spAutoFit/>
          </a:bodyPr>
          <a:lstStyle/>
          <a:p>
            <a:pPr algn="l">
              <a:lnSpc>
                <a:spcPts val="16800"/>
              </a:lnSpc>
            </a:pPr>
            <a:r>
              <a:rPr lang="en-US" sz="5400" dirty="0">
                <a:solidFill>
                  <a:srgbClr val="000000"/>
                </a:solidFill>
                <a:latin typeface="Inter"/>
                <a:ea typeface="Inter"/>
                <a:cs typeface="Inter"/>
                <a:sym typeface="Inter"/>
              </a:rPr>
              <a:t>ABSTRACT</a:t>
            </a:r>
          </a:p>
        </p:txBody>
      </p:sp>
      <p:sp>
        <p:nvSpPr>
          <p:cNvPr id="7" name="TextBox 7"/>
          <p:cNvSpPr txBox="1"/>
          <p:nvPr/>
        </p:nvSpPr>
        <p:spPr>
          <a:xfrm>
            <a:off x="533400" y="2476500"/>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GB" sz="2800" dirty="0"/>
              <a:t>Event management is a complex process that requires careful coordination of tasks such as attendee registration, scheduling, communication, and reporting. Traditionally, these activities are handled manually, which often leads to inefficiency, errors, and difficulty in maintaining accurate records. As events become larger and more diverse, organizers face challenges in ensuring smooth check‑ins, keeping participants updated, and evaluating outcomes effectively. The absence of automation and structured analytics makes it harder to measure success, identify areas for improvement, and plan future events with confidence. This creates a clear need for a system that can streamline operations, reduce manual workload, and provide meaningful insights into event performance.</a:t>
            </a:r>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a:t>The Event Management and Analytics Portal is designed as a comprehensive solution to address these challenges by digitizing the entire event lifecycle. It provides modules for attendee registration with role assignment, event creation and updates, search and filters, QR‑based check‑in, notifications, and audit logs. These features simplify routine tasks, improve transparency, and ensure accountability throughout the process. In addition, the portal includes an analytics dashboard that presents visual insights into attendance, engagement, and overall success, enabling organizers to make data‑driven decisions. By automating operations and offering real‑time updates, the portal enhances communication between organizers and participants while reducing errors and delays. Overall, it delivers a reliable and efficient system that makes event planning and execution smarter, faster, and more effective, while also supporting continuous improvement through clear reporting and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8548116" cy="1781450"/>
          </a:xfrm>
          <a:prstGeom prst="rect">
            <a:avLst/>
          </a:prstGeom>
        </p:spPr>
        <p:txBody>
          <a:bodyPr lIns="0" tIns="0" rIns="0" bIns="0" rtlCol="0" anchor="t">
            <a:spAutoFit/>
          </a:bodyPr>
          <a:lstStyle/>
          <a:p>
            <a:pPr algn="l">
              <a:lnSpc>
                <a:spcPts val="16800"/>
              </a:lnSpc>
            </a:pPr>
            <a:r>
              <a:rPr lang="en-US" sz="5400" dirty="0">
                <a:solidFill>
                  <a:srgbClr val="000000"/>
                </a:solidFill>
                <a:latin typeface="Inter"/>
                <a:ea typeface="Inter"/>
                <a:cs typeface="Inter"/>
                <a:sym typeface="Inter"/>
              </a:rPr>
              <a:t>INTRODUCTION</a:t>
            </a:r>
          </a:p>
        </p:txBody>
      </p:sp>
      <p:sp>
        <p:nvSpPr>
          <p:cNvPr id="7" name="TextBox 7"/>
          <p:cNvSpPr txBox="1"/>
          <p:nvPr/>
        </p:nvSpPr>
        <p:spPr>
          <a:xfrm>
            <a:off x="661416" y="3120069"/>
            <a:ext cx="17449800" cy="6894195"/>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a:t>Event management requires handling registrations, scheduling, communication, and reporting.</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Manual methods often cause delays, errors, and difficulty in tracking important details.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As events grow larger, organizers struggle with smooth check‑ins and proper evaluation.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This project introduces a portal that digitizes the entire event lifecycle.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streamlines operations, improves transparency, and provides analytics for better decisions.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It covers registration, event creation, check‑in, and notifications.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Analytics and reporting help measure success and improve planning.</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Overall, the portal makes event management smarter, faster, and more reliable.</a:t>
            </a:r>
          </a:p>
          <a:p>
            <a:endParaRPr lang="en-US" sz="2800" dirty="0"/>
          </a:p>
        </p:txBody>
      </p:sp>
    </p:spTree>
    <p:extLst>
      <p:ext uri="{BB962C8B-B14F-4D97-AF65-F5344CB8AC3E}">
        <p14:creationId xmlns:p14="http://schemas.microsoft.com/office/powerpoint/2010/main" val="784253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8548116" cy="1781450"/>
          </a:xfrm>
          <a:prstGeom prst="rect">
            <a:avLst/>
          </a:prstGeom>
        </p:spPr>
        <p:txBody>
          <a:bodyPr lIns="0" tIns="0" rIns="0" bIns="0" rtlCol="0" anchor="t">
            <a:spAutoFit/>
          </a:bodyPr>
          <a:lstStyle/>
          <a:p>
            <a:pPr algn="l">
              <a:lnSpc>
                <a:spcPts val="16800"/>
              </a:lnSpc>
            </a:pPr>
            <a:r>
              <a:rPr lang="en-US" sz="5400" dirty="0">
                <a:solidFill>
                  <a:srgbClr val="000000"/>
                </a:solidFill>
                <a:latin typeface="Inter"/>
                <a:ea typeface="Inter"/>
                <a:cs typeface="Inter"/>
                <a:sym typeface="Inter"/>
              </a:rPr>
              <a:t>EXISTING SYSTEMS</a:t>
            </a:r>
          </a:p>
        </p:txBody>
      </p:sp>
      <p:sp>
        <p:nvSpPr>
          <p:cNvPr id="7" name="TextBox 7"/>
          <p:cNvSpPr txBox="1"/>
          <p:nvPr/>
        </p:nvSpPr>
        <p:spPr>
          <a:xfrm>
            <a:off x="661416" y="3619500"/>
            <a:ext cx="17449800" cy="4308872"/>
          </a:xfrm>
          <a:prstGeom prst="rect">
            <a:avLst/>
          </a:prstGeom>
        </p:spPr>
        <p:txBody>
          <a:bodyPr wrap="square" lIns="0" tIns="0" rIns="0" bIns="0" rtlCol="0" anchor="t">
            <a:spAutoFit/>
          </a:bodyPr>
          <a:lstStyle/>
          <a:p>
            <a:r>
              <a:rPr lang="en-US" sz="2800" dirty="0"/>
              <a:t>Some of the existing and most used systems are:</a:t>
            </a:r>
          </a:p>
          <a:p>
            <a:endParaRPr lang="en-US" sz="2800" b="1" dirty="0"/>
          </a:p>
          <a:p>
            <a:pPr marL="457200" indent="-457200">
              <a:buFont typeface="Arial" panose="020B0604020202020204" pitchFamily="34" charset="0"/>
              <a:buChar char="•"/>
            </a:pPr>
            <a:r>
              <a:rPr lang="en-US" sz="2800" b="1" dirty="0"/>
              <a:t>Eventbrite</a:t>
            </a:r>
            <a:r>
              <a:rPr lang="en-US" sz="2800" dirty="0"/>
              <a:t> – A popular platform that focuses on online ticketing and registration, making it easy to organize public events like concerts, workshops, and meetups.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err="1"/>
              <a:t>Cvent</a:t>
            </a:r>
            <a:r>
              <a:rPr lang="en-US" sz="2800" dirty="0"/>
              <a:t> – An enterprise‑level solution that offers end‑to‑end event management including venue sourcing, registration, logistics, and reporting for large conferences.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err="1"/>
              <a:t>Bizzabo</a:t>
            </a:r>
            <a:r>
              <a:rPr lang="en-US" sz="2800" dirty="0"/>
              <a:t> – A modern event management system designed to boost attendee engagement with features like networking tools, event apps, and analytics for professional events.</a:t>
            </a:r>
          </a:p>
        </p:txBody>
      </p:sp>
    </p:spTree>
    <p:extLst>
      <p:ext uri="{BB962C8B-B14F-4D97-AF65-F5344CB8AC3E}">
        <p14:creationId xmlns:p14="http://schemas.microsoft.com/office/powerpoint/2010/main" val="722074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8548116" cy="1781450"/>
          </a:xfrm>
          <a:prstGeom prst="rect">
            <a:avLst/>
          </a:prstGeom>
        </p:spPr>
        <p:txBody>
          <a:bodyPr lIns="0" tIns="0" rIns="0" bIns="0" rtlCol="0" anchor="t">
            <a:spAutoFit/>
          </a:bodyPr>
          <a:lstStyle/>
          <a:p>
            <a:pPr algn="l">
              <a:lnSpc>
                <a:spcPts val="16800"/>
              </a:lnSpc>
            </a:pPr>
            <a:r>
              <a:rPr lang="en-US" sz="5400" dirty="0">
                <a:solidFill>
                  <a:srgbClr val="000000"/>
                </a:solidFill>
                <a:latin typeface="Inter"/>
                <a:ea typeface="Inter"/>
                <a:cs typeface="Inter"/>
                <a:sym typeface="Inter"/>
              </a:rPr>
              <a:t>PROBLEM</a:t>
            </a:r>
          </a:p>
        </p:txBody>
      </p:sp>
      <p:sp>
        <p:nvSpPr>
          <p:cNvPr id="7" name="TextBox 7"/>
          <p:cNvSpPr txBox="1"/>
          <p:nvPr/>
        </p:nvSpPr>
        <p:spPr>
          <a:xfrm>
            <a:off x="419100" y="2781300"/>
            <a:ext cx="17449800" cy="8617744"/>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800" b="1" dirty="0"/>
              <a:t>Limited role management</a:t>
            </a:r>
            <a:r>
              <a:rPr lang="en-US" sz="2800" dirty="0"/>
              <a:t> – Many platforms don’t provide fine‑grained role‑based access, making it harder to separate organizer, staff, and attendee permissions.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Weak accountability</a:t>
            </a:r>
            <a:r>
              <a:rPr lang="en-US" sz="2800" dirty="0"/>
              <a:t> – Audit logs are often missing, so tracking who made changes or updates is difficult.</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Fragmented lifecycle management</a:t>
            </a:r>
            <a:r>
              <a:rPr lang="en-US" sz="2800" dirty="0"/>
              <a:t> – Existing systems may handle registration or ticketing well but lack full end‑to‑end event lifecycle coverage.</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Slow or manual check‑in</a:t>
            </a:r>
            <a:r>
              <a:rPr lang="en-US" sz="2800" dirty="0"/>
              <a:t> – QR‑based check‑in is not always integrated, leading to delays at entry points.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Basic reporting only</a:t>
            </a:r>
            <a:r>
              <a:rPr lang="en-US" sz="2800" dirty="0"/>
              <a:t> – Analytics are often limited to attendance counts without deeper insights into engagement or performance.</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Poor search and filtering</a:t>
            </a:r>
            <a:r>
              <a:rPr lang="en-US" sz="2800" dirty="0"/>
              <a:t> – Finding specific event details or attendee records can be slow and inefficient.</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Limited transparency and communication</a:t>
            </a:r>
            <a:r>
              <a:rPr lang="en-US" sz="2800" dirty="0"/>
              <a:t> – Notifications and real‑time updates are not always reliable, leaving participants uninformed.</a:t>
            </a:r>
          </a:p>
          <a:p>
            <a:endParaRPr lang="en-US" sz="2800" dirty="0"/>
          </a:p>
          <a:p>
            <a:pPr lvl="1"/>
            <a:endParaRPr lang="en-US" sz="2800" dirty="0"/>
          </a:p>
          <a:p>
            <a:endParaRPr lang="en-US" sz="2800" dirty="0"/>
          </a:p>
        </p:txBody>
      </p:sp>
    </p:spTree>
    <p:extLst>
      <p:ext uri="{BB962C8B-B14F-4D97-AF65-F5344CB8AC3E}">
        <p14:creationId xmlns:p14="http://schemas.microsoft.com/office/powerpoint/2010/main" val="37314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SOLUTION (PROPOSED APPROACH) </a:t>
            </a:r>
          </a:p>
        </p:txBody>
      </p:sp>
      <p:sp>
        <p:nvSpPr>
          <p:cNvPr id="7" name="TextBox 7"/>
          <p:cNvSpPr txBox="1"/>
          <p:nvPr/>
        </p:nvSpPr>
        <p:spPr>
          <a:xfrm>
            <a:off x="533400" y="29238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b="1" dirty="0"/>
              <a:t>Role-based access control </a:t>
            </a:r>
            <a:r>
              <a:rPr lang="en-US" sz="2800" dirty="0"/>
              <a:t>– Organizers, staff, and attendees have clearly defined permissions, improving security and reducing confusion.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Comprehensive audit logs </a:t>
            </a:r>
            <a:r>
              <a:rPr lang="en-US" sz="2800" dirty="0"/>
              <a:t>– Every action is tracked, providing accountability and transparency.</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End-to-end lifecycle management </a:t>
            </a:r>
            <a:r>
              <a:rPr lang="en-US" sz="2800" dirty="0"/>
              <a:t>– The system manages events from creation to reporting in one place.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Integrated QR check-in </a:t>
            </a:r>
            <a:r>
              <a:rPr lang="en-US" sz="2800" dirty="0"/>
              <a:t>– Speeds up entry and reduces manual errors during live events.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Advanced analytics dashboard </a:t>
            </a:r>
            <a:r>
              <a:rPr lang="en-US" sz="2800" dirty="0"/>
              <a:t>– Provides visual insights into attendance, engagement, and performance for better decisions.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Efficient search and filters </a:t>
            </a:r>
            <a:r>
              <a:rPr lang="en-US" sz="2800" dirty="0"/>
              <a:t>– Helps organizers quickly locate event details or attendee records.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Real-time notifications and updates </a:t>
            </a:r>
            <a:r>
              <a:rPr lang="en-US" sz="2800" dirty="0"/>
              <a:t>– Keeps participants informed instantly, improving communication and overall experience.</a:t>
            </a:r>
          </a:p>
          <a:p>
            <a:pPr marL="457200" indent="-457200">
              <a:buFont typeface="Arial" panose="020B0604020202020204" pitchFamily="34" charset="0"/>
              <a:buChar char="•"/>
            </a:pPr>
            <a:endParaRPr lang="en-GB" sz="2800" dirty="0"/>
          </a:p>
        </p:txBody>
      </p:sp>
    </p:spTree>
    <p:extLst>
      <p:ext uri="{BB962C8B-B14F-4D97-AF65-F5344CB8AC3E}">
        <p14:creationId xmlns:p14="http://schemas.microsoft.com/office/powerpoint/2010/main" val="48372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762000" y="419100"/>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OBJECTIVES</a:t>
            </a:r>
          </a:p>
        </p:txBody>
      </p:sp>
      <p:sp>
        <p:nvSpPr>
          <p:cNvPr id="7" name="TextBox 7"/>
          <p:cNvSpPr txBox="1"/>
          <p:nvPr/>
        </p:nvSpPr>
        <p:spPr>
          <a:xfrm>
            <a:off x="419100" y="3924300"/>
            <a:ext cx="17449800" cy="4308872"/>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a:t>The objective of this project is to design a portal that digitizes the complete event management process.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It aims to reduce manual effort by automating tasks such as registration, scheduling, and check‑in.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system seeks to improve transparency and accountability through audit logs and role‑based access.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Another objective is to provide real‑time communication and notifications to keep participants informed.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Finally, the project focuses on delivering analytics and reporting tools that help organizers evaluate success and make data‑driven decisions.</a:t>
            </a:r>
          </a:p>
        </p:txBody>
      </p:sp>
    </p:spTree>
    <p:extLst>
      <p:ext uri="{BB962C8B-B14F-4D97-AF65-F5344CB8AC3E}">
        <p14:creationId xmlns:p14="http://schemas.microsoft.com/office/powerpoint/2010/main" val="156079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MODULES</a:t>
            </a:r>
          </a:p>
        </p:txBody>
      </p:sp>
      <p:sp>
        <p:nvSpPr>
          <p:cNvPr id="7" name="TextBox 7"/>
          <p:cNvSpPr txBox="1"/>
          <p:nvPr/>
        </p:nvSpPr>
        <p:spPr>
          <a:xfrm>
            <a:off x="533400" y="3390900"/>
            <a:ext cx="17449800" cy="6463308"/>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b="1" dirty="0"/>
              <a:t>Attendee Registration </a:t>
            </a:r>
            <a:r>
              <a:rPr lang="en-US" sz="2800" dirty="0"/>
              <a:t>– Allows users to register with assigned roles for secure access.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Event Creation and Lifecycle Management </a:t>
            </a:r>
            <a:r>
              <a:rPr lang="en-US" sz="2800" dirty="0"/>
              <a:t>– Enables organizers to create, update, and manage events from start to finish.</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Search and Filter </a:t>
            </a:r>
            <a:r>
              <a:rPr lang="en-US" sz="2800" dirty="0"/>
              <a:t>– Provides quick access to specific event details or attendee records.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QR‑based Check‑in </a:t>
            </a:r>
            <a:r>
              <a:rPr lang="en-US" sz="2800" dirty="0"/>
              <a:t>– Speeds up entry during live events and reduces manual errors.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Notifications</a:t>
            </a:r>
            <a:r>
              <a:rPr lang="en-US" sz="2800" dirty="0"/>
              <a:t> – Sends real‑time updates to keep participants informed.</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Audit Logs </a:t>
            </a:r>
            <a:r>
              <a:rPr lang="en-US" sz="2800" dirty="0"/>
              <a:t>– Tracks all actions for accountability and transparency.</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b="1" dirty="0"/>
              <a:t>Analytics Dashboard </a:t>
            </a:r>
            <a:r>
              <a:rPr lang="en-US" sz="2800" dirty="0"/>
              <a:t>– Presents visual insights into attendance, engagement, and overall event performance.</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1239152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SYSTEM ARCHITECTURE</a:t>
            </a:r>
          </a:p>
        </p:txBody>
      </p:sp>
      <p:pic>
        <p:nvPicPr>
          <p:cNvPr id="3" name="Picture 2">
            <a:extLst>
              <a:ext uri="{FF2B5EF4-FFF2-40B4-BE49-F238E27FC236}">
                <a16:creationId xmlns:a16="http://schemas.microsoft.com/office/drawing/2014/main" id="{44213C22-FAD4-4B4D-BCDB-52D1237BCD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552700"/>
            <a:ext cx="12641896" cy="6901577"/>
          </a:xfrm>
          <a:prstGeom prst="rect">
            <a:avLst/>
          </a:prstGeom>
        </p:spPr>
      </p:pic>
    </p:spTree>
    <p:extLst>
      <p:ext uri="{BB962C8B-B14F-4D97-AF65-F5344CB8AC3E}">
        <p14:creationId xmlns:p14="http://schemas.microsoft.com/office/powerpoint/2010/main" val="1865552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SOFTWARE USED</a:t>
            </a:r>
          </a:p>
        </p:txBody>
      </p:sp>
      <p:sp>
        <p:nvSpPr>
          <p:cNvPr id="7" name="TextBox 7"/>
          <p:cNvSpPr txBox="1"/>
          <p:nvPr/>
        </p:nvSpPr>
        <p:spPr>
          <a:xfrm>
            <a:off x="685800" y="2857500"/>
            <a:ext cx="17449800" cy="5090817"/>
          </a:xfrm>
          <a:prstGeom prst="rect">
            <a:avLst/>
          </a:prstGeom>
        </p:spPr>
        <p:txBody>
          <a:bodyPr wrap="square" lIns="0" tIns="0" rIns="0" bIns="0" rtlCol="0" anchor="t">
            <a:spAutoFit/>
          </a:bodyPr>
          <a:lstStyle/>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Operating System </a:t>
            </a:r>
            <a:r>
              <a:rPr lang="en-US" altLang="en-US" sz="2800" dirty="0">
                <a:latin typeface="Arial" panose="020B0604020202020204" pitchFamily="34" charset="0"/>
              </a:rPr>
              <a:t>– Windows 10 or higher for development and deployment.</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Front‑end </a:t>
            </a:r>
            <a:r>
              <a:rPr lang="en-US" altLang="en-US" sz="2800" dirty="0">
                <a:latin typeface="Arial" panose="020B0604020202020204" pitchFamily="34" charset="0"/>
              </a:rPr>
              <a:t>– React.js for building the user interface.</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Back‑end </a:t>
            </a:r>
            <a:r>
              <a:rPr lang="en-US" altLang="en-US" sz="2800" dirty="0">
                <a:latin typeface="Arial" panose="020B0604020202020204" pitchFamily="34" charset="0"/>
              </a:rPr>
              <a:t>– Node.js with Express.js for server‑side logic and APIs.</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Database</a:t>
            </a:r>
            <a:r>
              <a:rPr lang="en-US" altLang="en-US" sz="2800" dirty="0">
                <a:latin typeface="Arial" panose="020B0604020202020204" pitchFamily="34" charset="0"/>
              </a:rPr>
              <a:t> – MySQL for structured data storage and management.</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Analytics </a:t>
            </a:r>
            <a:r>
              <a:rPr lang="en-US" altLang="en-US" sz="2800" dirty="0">
                <a:latin typeface="Arial" panose="020B0604020202020204" pitchFamily="34" charset="0"/>
              </a:rPr>
              <a:t>– Chart.js for generating interactive charts and dashboards.</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Development Tools </a:t>
            </a:r>
            <a:r>
              <a:rPr lang="en-US" altLang="en-US" sz="2800" dirty="0">
                <a:latin typeface="Arial" panose="020B0604020202020204" pitchFamily="34" charset="0"/>
              </a:rPr>
              <a:t>– Visual Studio Code (IDE), GitHub for version control.</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Browser</a:t>
            </a:r>
            <a:r>
              <a:rPr lang="en-US" altLang="en-US" sz="2800" dirty="0">
                <a:latin typeface="Arial" panose="020B0604020202020204" pitchFamily="34" charset="0"/>
              </a:rPr>
              <a:t> – Google Chrome or Microsoft Edge for testing and running the portal.</a:t>
            </a:r>
          </a:p>
          <a:p>
            <a:pPr marL="45720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Arial" panose="020B0604020202020204" pitchFamily="34" charset="0"/>
              </a:rPr>
              <a:t>Package Manager </a:t>
            </a:r>
            <a:r>
              <a:rPr lang="en-US" altLang="en-US" sz="2800" dirty="0">
                <a:latin typeface="Arial" panose="020B0604020202020204" pitchFamily="34" charset="0"/>
              </a:rPr>
              <a:t>– </a:t>
            </a:r>
            <a:r>
              <a:rPr lang="en-US" altLang="en-US" sz="2800" dirty="0" err="1">
                <a:latin typeface="Arial" panose="020B0604020202020204" pitchFamily="34" charset="0"/>
              </a:rPr>
              <a:t>npm</a:t>
            </a:r>
            <a:r>
              <a:rPr lang="en-US" altLang="en-US" sz="2800" dirty="0">
                <a:latin typeface="Arial" panose="020B0604020202020204" pitchFamily="34" charset="0"/>
              </a:rPr>
              <a:t> (Node Package Manager) for installing dependencies.</a:t>
            </a:r>
          </a:p>
        </p:txBody>
      </p:sp>
    </p:spTree>
    <p:extLst>
      <p:ext uri="{BB962C8B-B14F-4D97-AF65-F5344CB8AC3E}">
        <p14:creationId xmlns:p14="http://schemas.microsoft.com/office/powerpoint/2010/main" val="3625237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1371600" y="0"/>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WEBSITE SNIPPETS</a:t>
            </a:r>
          </a:p>
        </p:txBody>
      </p:sp>
      <p:sp>
        <p:nvSpPr>
          <p:cNvPr id="7" name="TextBox 7"/>
          <p:cNvSpPr txBox="1"/>
          <p:nvPr/>
        </p:nvSpPr>
        <p:spPr>
          <a:xfrm>
            <a:off x="3276600" y="75339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GB" sz="2800" dirty="0"/>
          </a:p>
        </p:txBody>
      </p:sp>
      <p:sp>
        <p:nvSpPr>
          <p:cNvPr id="4" name="Rectangle 3">
            <a:extLst>
              <a:ext uri="{FF2B5EF4-FFF2-40B4-BE49-F238E27FC236}">
                <a16:creationId xmlns:a16="http://schemas.microsoft.com/office/drawing/2014/main" id="{A0C1496F-1A71-4530-9950-56D19E7CB239}"/>
              </a:ext>
            </a:extLst>
          </p:cNvPr>
          <p:cNvSpPr>
            <a:spLocks noChangeArrowheads="1"/>
          </p:cNvSpPr>
          <p:nvPr/>
        </p:nvSpPr>
        <p:spPr bwMode="auto">
          <a:xfrm>
            <a:off x="1943100" y="2363576"/>
            <a:ext cx="1306830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7D96CB62-20E5-45BA-A31A-31A8AD19D183}"/>
              </a:ext>
            </a:extLst>
          </p:cNvPr>
          <p:cNvSpPr>
            <a:spLocks noChangeArrowheads="1"/>
          </p:cNvSpPr>
          <p:nvPr/>
        </p:nvSpPr>
        <p:spPr bwMode="auto">
          <a:xfrm>
            <a:off x="2438400" y="6260609"/>
            <a:ext cx="1150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1174861-0C38-48EB-8FEB-DF3FE772046B}"/>
              </a:ext>
            </a:extLst>
          </p:cNvPr>
          <p:cNvPicPr>
            <a:picLocks noChangeAspect="1"/>
          </p:cNvPicPr>
          <p:nvPr/>
        </p:nvPicPr>
        <p:blipFill>
          <a:blip r:embed="rId2"/>
          <a:stretch>
            <a:fillRect/>
          </a:stretch>
        </p:blipFill>
        <p:spPr>
          <a:xfrm>
            <a:off x="1600200" y="2552700"/>
            <a:ext cx="14608806" cy="6530906"/>
          </a:xfrm>
          <a:prstGeom prst="rect">
            <a:avLst/>
          </a:prstGeom>
        </p:spPr>
      </p:pic>
    </p:spTree>
    <p:extLst>
      <p:ext uri="{BB962C8B-B14F-4D97-AF65-F5344CB8AC3E}">
        <p14:creationId xmlns:p14="http://schemas.microsoft.com/office/powerpoint/2010/main" val="1862840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7" name="TextBox 7"/>
          <p:cNvSpPr txBox="1"/>
          <p:nvPr/>
        </p:nvSpPr>
        <p:spPr>
          <a:xfrm>
            <a:off x="3276600" y="75339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GB" sz="2800" dirty="0"/>
          </a:p>
        </p:txBody>
      </p:sp>
      <p:sp>
        <p:nvSpPr>
          <p:cNvPr id="4" name="Rectangle 3">
            <a:extLst>
              <a:ext uri="{FF2B5EF4-FFF2-40B4-BE49-F238E27FC236}">
                <a16:creationId xmlns:a16="http://schemas.microsoft.com/office/drawing/2014/main" id="{A0C1496F-1A71-4530-9950-56D19E7CB239}"/>
              </a:ext>
            </a:extLst>
          </p:cNvPr>
          <p:cNvSpPr>
            <a:spLocks noChangeArrowheads="1"/>
          </p:cNvSpPr>
          <p:nvPr/>
        </p:nvSpPr>
        <p:spPr bwMode="auto">
          <a:xfrm>
            <a:off x="1943100" y="2363576"/>
            <a:ext cx="1306830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7D96CB62-20E5-45BA-A31A-31A8AD19D183}"/>
              </a:ext>
            </a:extLst>
          </p:cNvPr>
          <p:cNvSpPr>
            <a:spLocks noChangeArrowheads="1"/>
          </p:cNvSpPr>
          <p:nvPr/>
        </p:nvSpPr>
        <p:spPr bwMode="auto">
          <a:xfrm>
            <a:off x="2438400" y="6260609"/>
            <a:ext cx="1150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A653F267-5872-4BD4-A410-02BFAFA19E77}"/>
              </a:ext>
            </a:extLst>
          </p:cNvPr>
          <p:cNvPicPr>
            <a:picLocks noChangeAspect="1"/>
          </p:cNvPicPr>
          <p:nvPr/>
        </p:nvPicPr>
        <p:blipFill>
          <a:blip r:embed="rId2"/>
          <a:stretch>
            <a:fillRect/>
          </a:stretch>
        </p:blipFill>
        <p:spPr>
          <a:xfrm>
            <a:off x="1900562" y="1862805"/>
            <a:ext cx="14486875" cy="6561389"/>
          </a:xfrm>
          <a:prstGeom prst="rect">
            <a:avLst/>
          </a:prstGeom>
        </p:spPr>
      </p:pic>
    </p:spTree>
    <p:extLst>
      <p:ext uri="{BB962C8B-B14F-4D97-AF65-F5344CB8AC3E}">
        <p14:creationId xmlns:p14="http://schemas.microsoft.com/office/powerpoint/2010/main" val="3357164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7" name="TextBox 7"/>
          <p:cNvSpPr txBox="1"/>
          <p:nvPr/>
        </p:nvSpPr>
        <p:spPr>
          <a:xfrm>
            <a:off x="3276600" y="75339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GB" sz="2800" dirty="0"/>
          </a:p>
        </p:txBody>
      </p:sp>
      <p:sp>
        <p:nvSpPr>
          <p:cNvPr id="4" name="Rectangle 3">
            <a:extLst>
              <a:ext uri="{FF2B5EF4-FFF2-40B4-BE49-F238E27FC236}">
                <a16:creationId xmlns:a16="http://schemas.microsoft.com/office/drawing/2014/main" id="{A0C1496F-1A71-4530-9950-56D19E7CB239}"/>
              </a:ext>
            </a:extLst>
          </p:cNvPr>
          <p:cNvSpPr>
            <a:spLocks noChangeArrowheads="1"/>
          </p:cNvSpPr>
          <p:nvPr/>
        </p:nvSpPr>
        <p:spPr bwMode="auto">
          <a:xfrm>
            <a:off x="1943100" y="2363576"/>
            <a:ext cx="1306830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7D96CB62-20E5-45BA-A31A-31A8AD19D183}"/>
              </a:ext>
            </a:extLst>
          </p:cNvPr>
          <p:cNvSpPr>
            <a:spLocks noChangeArrowheads="1"/>
          </p:cNvSpPr>
          <p:nvPr/>
        </p:nvSpPr>
        <p:spPr bwMode="auto">
          <a:xfrm>
            <a:off x="2438400" y="6260609"/>
            <a:ext cx="1150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8F3B1F5A-2336-40CC-A2DD-D7B1C895E6F2}"/>
              </a:ext>
            </a:extLst>
          </p:cNvPr>
          <p:cNvPicPr>
            <a:picLocks noChangeAspect="1"/>
          </p:cNvPicPr>
          <p:nvPr/>
        </p:nvPicPr>
        <p:blipFill>
          <a:blip r:embed="rId2"/>
          <a:stretch>
            <a:fillRect/>
          </a:stretch>
        </p:blipFill>
        <p:spPr>
          <a:xfrm>
            <a:off x="189978" y="1790700"/>
            <a:ext cx="10325621" cy="5743217"/>
          </a:xfrm>
          <a:prstGeom prst="rect">
            <a:avLst/>
          </a:prstGeom>
        </p:spPr>
      </p:pic>
      <p:pic>
        <p:nvPicPr>
          <p:cNvPr id="6" name="Picture 5">
            <a:extLst>
              <a:ext uri="{FF2B5EF4-FFF2-40B4-BE49-F238E27FC236}">
                <a16:creationId xmlns:a16="http://schemas.microsoft.com/office/drawing/2014/main" id="{00EF6DB7-AA44-4279-8BF9-134347691959}"/>
              </a:ext>
            </a:extLst>
          </p:cNvPr>
          <p:cNvPicPr>
            <a:picLocks noChangeAspect="1"/>
          </p:cNvPicPr>
          <p:nvPr/>
        </p:nvPicPr>
        <p:blipFill>
          <a:blip r:embed="rId3"/>
          <a:stretch>
            <a:fillRect/>
          </a:stretch>
        </p:blipFill>
        <p:spPr>
          <a:xfrm>
            <a:off x="11848578" y="2010318"/>
            <a:ext cx="6020322" cy="5303980"/>
          </a:xfrm>
          <a:prstGeom prst="rect">
            <a:avLst/>
          </a:prstGeom>
        </p:spPr>
      </p:pic>
    </p:spTree>
    <p:extLst>
      <p:ext uri="{BB962C8B-B14F-4D97-AF65-F5344CB8AC3E}">
        <p14:creationId xmlns:p14="http://schemas.microsoft.com/office/powerpoint/2010/main" val="1702841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838200" y="27273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PROBLEMS ADDRESSED</a:t>
            </a:r>
          </a:p>
        </p:txBody>
      </p:sp>
      <p:sp>
        <p:nvSpPr>
          <p:cNvPr id="7" name="TextBox 7"/>
          <p:cNvSpPr txBox="1"/>
          <p:nvPr/>
        </p:nvSpPr>
        <p:spPr>
          <a:xfrm>
            <a:off x="3276600" y="75339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GB" sz="2800" dirty="0"/>
          </a:p>
        </p:txBody>
      </p:sp>
      <p:sp>
        <p:nvSpPr>
          <p:cNvPr id="4" name="Rectangle 3">
            <a:extLst>
              <a:ext uri="{FF2B5EF4-FFF2-40B4-BE49-F238E27FC236}">
                <a16:creationId xmlns:a16="http://schemas.microsoft.com/office/drawing/2014/main" id="{A0C1496F-1A71-4530-9950-56D19E7CB239}"/>
              </a:ext>
            </a:extLst>
          </p:cNvPr>
          <p:cNvSpPr>
            <a:spLocks noChangeArrowheads="1"/>
          </p:cNvSpPr>
          <p:nvPr/>
        </p:nvSpPr>
        <p:spPr bwMode="auto">
          <a:xfrm>
            <a:off x="1943100" y="3009900"/>
            <a:ext cx="1306830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Manual handling → Automated workflows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Limited role management → Role‑based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Weak accountability → Audit logs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Fragmented lifecycle → End‑to‑end coverage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Slow/manual check‑in → QR instant entry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Basic reporting → Analytics dashboard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Poor search/filter → Advanced search options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Limited transparency → Real‑time notifications</a:t>
            </a:r>
          </a:p>
        </p:txBody>
      </p:sp>
    </p:spTree>
    <p:extLst>
      <p:ext uri="{BB962C8B-B14F-4D97-AF65-F5344CB8AC3E}">
        <p14:creationId xmlns:p14="http://schemas.microsoft.com/office/powerpoint/2010/main" val="3446135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1328737" y="582126"/>
            <a:ext cx="14478000" cy="1781450"/>
          </a:xfrm>
          <a:prstGeom prst="rect">
            <a:avLst/>
          </a:prstGeom>
        </p:spPr>
        <p:txBody>
          <a:bodyPr wrap="square" lIns="0" tIns="0" rIns="0" bIns="0" rtlCol="0" anchor="t">
            <a:spAutoFit/>
          </a:bodyPr>
          <a:lstStyle/>
          <a:p>
            <a:pPr algn="l">
              <a:lnSpc>
                <a:spcPts val="16800"/>
              </a:lnSpc>
            </a:pPr>
            <a:r>
              <a:rPr lang="en-US" sz="5400" dirty="0">
                <a:solidFill>
                  <a:srgbClr val="000000"/>
                </a:solidFill>
                <a:latin typeface="Inter"/>
                <a:ea typeface="Inter"/>
                <a:cs typeface="Inter"/>
                <a:sym typeface="Inter"/>
              </a:rPr>
              <a:t>CONCLUSION AND FUTURE SCOPE</a:t>
            </a:r>
          </a:p>
        </p:txBody>
      </p:sp>
      <p:sp>
        <p:nvSpPr>
          <p:cNvPr id="7" name="TextBox 7"/>
          <p:cNvSpPr txBox="1"/>
          <p:nvPr/>
        </p:nvSpPr>
        <p:spPr>
          <a:xfrm>
            <a:off x="3276600" y="7533918"/>
            <a:ext cx="17449800" cy="7325082"/>
          </a:xfrm>
          <a:prstGeom prst="rect">
            <a:avLst/>
          </a:prstGeom>
        </p:spPr>
        <p:txBody>
          <a:bodyPr wrap="square" lIns="0" tIns="0" rIns="0" bIns="0" rtlCol="0" anchor="t">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GB" sz="2800" dirty="0"/>
          </a:p>
        </p:txBody>
      </p:sp>
      <p:sp>
        <p:nvSpPr>
          <p:cNvPr id="4" name="Rectangle 3">
            <a:extLst>
              <a:ext uri="{FF2B5EF4-FFF2-40B4-BE49-F238E27FC236}">
                <a16:creationId xmlns:a16="http://schemas.microsoft.com/office/drawing/2014/main" id="{A0C1496F-1A71-4530-9950-56D19E7CB239}"/>
              </a:ext>
            </a:extLst>
          </p:cNvPr>
          <p:cNvSpPr>
            <a:spLocks noChangeArrowheads="1"/>
          </p:cNvSpPr>
          <p:nvPr/>
        </p:nvSpPr>
        <p:spPr bwMode="auto">
          <a:xfrm>
            <a:off x="1943100" y="2363576"/>
            <a:ext cx="1306830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7D96CB62-20E5-45BA-A31A-31A8AD19D183}"/>
              </a:ext>
            </a:extLst>
          </p:cNvPr>
          <p:cNvSpPr>
            <a:spLocks noChangeArrowheads="1"/>
          </p:cNvSpPr>
          <p:nvPr/>
        </p:nvSpPr>
        <p:spPr bwMode="auto">
          <a:xfrm>
            <a:off x="2438400" y="3244399"/>
            <a:ext cx="1150620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r>
              <a:rPr lang="en-US" sz="2800" b="1" dirty="0"/>
              <a:t>Conclusion:</a:t>
            </a:r>
          </a:p>
          <a:p>
            <a:pPr marL="457200" indent="-457200">
              <a:buFont typeface="Arial" panose="020B0604020202020204" pitchFamily="34" charset="0"/>
              <a:buChar char="•"/>
            </a:pPr>
            <a:r>
              <a:rPr lang="en-US" sz="2800" dirty="0"/>
              <a:t>Portal makes event management faster and easier.</a:t>
            </a:r>
          </a:p>
          <a:p>
            <a:pPr marL="457200" indent="-457200">
              <a:buFont typeface="Arial" panose="020B0604020202020204" pitchFamily="34" charset="0"/>
              <a:buChar char="•"/>
            </a:pPr>
            <a:r>
              <a:rPr lang="en-US" sz="2800" dirty="0"/>
              <a:t>Ensures transparency with audit logs and role control.</a:t>
            </a:r>
          </a:p>
          <a:p>
            <a:pPr marL="457200" indent="-457200">
              <a:buFont typeface="Arial" panose="020B0604020202020204" pitchFamily="34" charset="0"/>
              <a:buChar char="•"/>
            </a:pPr>
            <a:r>
              <a:rPr lang="en-US" sz="2800" dirty="0"/>
              <a:t>Improves communication through real‑time updates.</a:t>
            </a:r>
          </a:p>
          <a:p>
            <a:pPr marL="457200" indent="-457200">
              <a:buFont typeface="Arial" panose="020B0604020202020204" pitchFamily="34" charset="0"/>
              <a:buChar char="•"/>
            </a:pPr>
            <a:r>
              <a:rPr lang="en-US" sz="2800" dirty="0"/>
              <a:t>Provides insights with analytics dashboard.</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r>
              <a:rPr lang="en-US" sz="2800" b="1" dirty="0"/>
              <a:t>Future Scope</a:t>
            </a:r>
          </a:p>
          <a:p>
            <a:pPr marL="457200" indent="-457200">
              <a:buFont typeface="Arial" panose="020B0604020202020204" pitchFamily="34" charset="0"/>
              <a:buChar char="•"/>
            </a:pPr>
            <a:r>
              <a:rPr lang="en-US" sz="2800" dirty="0"/>
              <a:t>AI‑based recommendations for planning.</a:t>
            </a:r>
          </a:p>
          <a:p>
            <a:pPr marL="457200" indent="-457200">
              <a:buFont typeface="Arial" panose="020B0604020202020204" pitchFamily="34" charset="0"/>
              <a:buChar char="•"/>
            </a:pPr>
            <a:r>
              <a:rPr lang="en-US" sz="2800" dirty="0"/>
              <a:t>Mobile app for on‑the‑go access.</a:t>
            </a:r>
          </a:p>
          <a:p>
            <a:pPr marL="457200" indent="-457200">
              <a:buFont typeface="Arial" panose="020B0604020202020204" pitchFamily="34" charset="0"/>
              <a:buChar char="•"/>
            </a:pPr>
            <a:r>
              <a:rPr lang="en-US" sz="2800" dirty="0"/>
              <a:t>Integration with external platforms (social media).</a:t>
            </a:r>
          </a:p>
          <a:p>
            <a:pPr marL="457200" indent="-457200">
              <a:buFont typeface="Arial" panose="020B0604020202020204" pitchFamily="34" charset="0"/>
              <a:buChar char="•"/>
            </a:pPr>
            <a:r>
              <a:rPr lang="en-US" sz="2800" dirty="0"/>
              <a:t>Advanced engagement tracking features.</a:t>
            </a:r>
          </a:p>
          <a:p>
            <a:pPr marL="457200" indent="-457200">
              <a:buFont typeface="Arial" panose="020B0604020202020204" pitchFamily="34" charset="0"/>
              <a:buChar char="•"/>
            </a:pPr>
            <a:endParaRPr lang="en-US" sz="2800" dirty="0"/>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0929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12" name="TextBox 12"/>
          <p:cNvSpPr txBox="1"/>
          <p:nvPr/>
        </p:nvSpPr>
        <p:spPr>
          <a:xfrm>
            <a:off x="4572000" y="2781300"/>
            <a:ext cx="14363700" cy="2237344"/>
          </a:xfrm>
          <a:prstGeom prst="rect">
            <a:avLst/>
          </a:prstGeom>
        </p:spPr>
        <p:txBody>
          <a:bodyPr wrap="square" lIns="0" tIns="0" rIns="0" bIns="0" rtlCol="0" anchor="t">
            <a:spAutoFit/>
          </a:bodyPr>
          <a:lstStyle/>
          <a:p>
            <a:pPr algn="l">
              <a:lnSpc>
                <a:spcPts val="20200"/>
              </a:lnSpc>
            </a:pPr>
            <a:r>
              <a:rPr lang="en-US" sz="9600" dirty="0">
                <a:solidFill>
                  <a:srgbClr val="000000"/>
                </a:solidFill>
                <a:latin typeface="Inter"/>
                <a:ea typeface="Inter"/>
                <a:cs typeface="Inter"/>
                <a:sym typeface="Inter"/>
              </a:rPr>
              <a:t>THANK YOU</a:t>
            </a:r>
          </a:p>
        </p:txBody>
      </p:sp>
      <p:sp>
        <p:nvSpPr>
          <p:cNvPr id="16" name="AutoShape 16"/>
          <p:cNvSpPr/>
          <p:nvPr/>
        </p:nvSpPr>
        <p:spPr>
          <a:xfrm>
            <a:off x="991133" y="5829300"/>
            <a:ext cx="16305734" cy="0"/>
          </a:xfrm>
          <a:prstGeom prst="line">
            <a:avLst/>
          </a:prstGeom>
          <a:ln w="19050" cap="flat">
            <a:solidFill>
              <a:srgbClr val="000000"/>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1249</Words>
  <Application>Microsoft Office PowerPoint</Application>
  <PresentationFormat>Custom</PresentationFormat>
  <Paragraphs>267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Inter Bold</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Black Modern Startup Pitch Deck Presentation</dc:title>
  <dc:creator>Havishaa Reddy</dc:creator>
  <cp:lastModifiedBy>MADHU</cp:lastModifiedBy>
  <cp:revision>6</cp:revision>
  <dcterms:created xsi:type="dcterms:W3CDTF">2006-08-16T00:00:00Z</dcterms:created>
  <dcterms:modified xsi:type="dcterms:W3CDTF">2026-10-01T15:46:01Z</dcterms:modified>
  <dc:identifier>DAHWxqKV96U</dc:identifier>
</cp:coreProperties>
</file>